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71" r:id="rId14"/>
    <p:sldId id="266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0489BA-7FED-4DE0-BBED-20770B297CE8}" type="doc">
      <dgm:prSet loTypeId="urn:microsoft.com/office/officeart/2009/layout/CirclePictureHierarchy" loCatId="picture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pt-PT"/>
        </a:p>
      </dgm:t>
    </dgm:pt>
    <dgm:pt modelId="{FD1E1C9F-E724-473A-892C-E75212E55377}">
      <dgm:prSet phldrT="[Text]" phldr="0"/>
      <dgm:spPr/>
      <dgm:t>
        <a:bodyPr/>
        <a:lstStyle/>
        <a:p>
          <a:r>
            <a:rPr lang="pt-PT" dirty="0"/>
            <a:t>ARS</a:t>
          </a:r>
        </a:p>
      </dgm:t>
    </dgm:pt>
    <dgm:pt modelId="{C24487CF-84F6-4BF9-A7BF-3EFE83686711}" type="parTrans" cxnId="{3216854C-1699-426A-B219-F49547931278}">
      <dgm:prSet/>
      <dgm:spPr/>
      <dgm:t>
        <a:bodyPr/>
        <a:lstStyle/>
        <a:p>
          <a:endParaRPr lang="pt-PT"/>
        </a:p>
      </dgm:t>
    </dgm:pt>
    <dgm:pt modelId="{F363D294-78CD-4143-AC1C-CB5140BD4F06}" type="sibTrans" cxnId="{3216854C-1699-426A-B219-F49547931278}">
      <dgm:prSet/>
      <dgm:spPr/>
      <dgm:t>
        <a:bodyPr/>
        <a:lstStyle/>
        <a:p>
          <a:endParaRPr lang="pt-PT"/>
        </a:p>
      </dgm:t>
    </dgm:pt>
    <dgm:pt modelId="{DD6372F8-BA69-4D6D-9B49-3C857A10765C}">
      <dgm:prSet phldrT="[Text]" phldr="0"/>
      <dgm:spPr/>
      <dgm:t>
        <a:bodyPr/>
        <a:lstStyle/>
        <a:p>
          <a:r>
            <a:rPr lang="pt-PT" dirty="0"/>
            <a:t>ANA</a:t>
          </a:r>
        </a:p>
      </dgm:t>
    </dgm:pt>
    <dgm:pt modelId="{543F278E-4323-4A43-99D9-A54BEB9A4185}" type="parTrans" cxnId="{2AB28756-D27B-4DD3-AFF6-FDF50264677C}">
      <dgm:prSet/>
      <dgm:spPr/>
      <dgm:t>
        <a:bodyPr/>
        <a:lstStyle/>
        <a:p>
          <a:endParaRPr lang="pt-PT"/>
        </a:p>
      </dgm:t>
    </dgm:pt>
    <dgm:pt modelId="{248EE542-60EE-48FA-90ED-306C18CC7809}" type="sibTrans" cxnId="{2AB28756-D27B-4DD3-AFF6-FDF50264677C}">
      <dgm:prSet/>
      <dgm:spPr/>
      <dgm:t>
        <a:bodyPr/>
        <a:lstStyle/>
        <a:p>
          <a:endParaRPr lang="pt-PT"/>
        </a:p>
      </dgm:t>
    </dgm:pt>
    <dgm:pt modelId="{FDF5224B-38B1-4F0B-88C5-FD3B6365F50A}">
      <dgm:prSet phldrT="[Text]" phldr="0"/>
      <dgm:spPr/>
      <dgm:t>
        <a:bodyPr/>
        <a:lstStyle/>
        <a:p>
          <a:r>
            <a:rPr lang="pt-PT" dirty="0"/>
            <a:t>JOSEFINA</a:t>
          </a:r>
        </a:p>
      </dgm:t>
    </dgm:pt>
    <dgm:pt modelId="{5B197613-5BBC-47FD-90F1-8E10CEA09766}" type="parTrans" cxnId="{82D8E1FB-02EA-4EDE-8109-F7A367AD6237}">
      <dgm:prSet/>
      <dgm:spPr/>
      <dgm:t>
        <a:bodyPr/>
        <a:lstStyle/>
        <a:p>
          <a:endParaRPr lang="pt-PT"/>
        </a:p>
      </dgm:t>
    </dgm:pt>
    <dgm:pt modelId="{7100053A-535D-42A7-91CA-2DE2DD29CFFF}" type="sibTrans" cxnId="{82D8E1FB-02EA-4EDE-8109-F7A367AD6237}">
      <dgm:prSet/>
      <dgm:spPr/>
      <dgm:t>
        <a:bodyPr/>
        <a:lstStyle/>
        <a:p>
          <a:endParaRPr lang="pt-PT"/>
        </a:p>
      </dgm:t>
    </dgm:pt>
    <dgm:pt modelId="{9445E54E-E420-42E3-9B4D-2722E2B621EA}">
      <dgm:prSet phldrT="[Text]" phldr="0"/>
      <dgm:spPr/>
      <dgm:t>
        <a:bodyPr/>
        <a:lstStyle/>
        <a:p>
          <a:r>
            <a:rPr lang="pt-PT" dirty="0"/>
            <a:t>ISABEL</a:t>
          </a:r>
        </a:p>
      </dgm:t>
    </dgm:pt>
    <dgm:pt modelId="{92B93E59-A917-456C-A910-B78DB21C8BB4}" type="parTrans" cxnId="{9C275CE0-B0A5-4AEE-955D-68C0831CE25B}">
      <dgm:prSet/>
      <dgm:spPr/>
      <dgm:t>
        <a:bodyPr/>
        <a:lstStyle/>
        <a:p>
          <a:endParaRPr lang="pt-PT"/>
        </a:p>
      </dgm:t>
    </dgm:pt>
    <dgm:pt modelId="{519E5AD9-8BD5-449F-8336-046DCBE41E29}" type="sibTrans" cxnId="{9C275CE0-B0A5-4AEE-955D-68C0831CE25B}">
      <dgm:prSet/>
      <dgm:spPr/>
      <dgm:t>
        <a:bodyPr/>
        <a:lstStyle/>
        <a:p>
          <a:endParaRPr lang="pt-PT"/>
        </a:p>
      </dgm:t>
    </dgm:pt>
    <dgm:pt modelId="{42168DDA-A005-48E8-9920-7DF6F994924A}">
      <dgm:prSet phldrT="[Text]" phldr="0"/>
      <dgm:spPr/>
      <dgm:t>
        <a:bodyPr/>
        <a:lstStyle/>
        <a:p>
          <a:r>
            <a:rPr lang="pt-PT" dirty="0"/>
            <a:t>MIRANDA</a:t>
          </a:r>
        </a:p>
      </dgm:t>
    </dgm:pt>
    <dgm:pt modelId="{306AC9BC-CEE9-4900-A02B-16104BFCACE3}" type="parTrans" cxnId="{B2E8599C-931F-4164-8D1D-0F01EF9F5022}">
      <dgm:prSet/>
      <dgm:spPr/>
      <dgm:t>
        <a:bodyPr/>
        <a:lstStyle/>
        <a:p>
          <a:endParaRPr lang="pt-PT"/>
        </a:p>
      </dgm:t>
    </dgm:pt>
    <dgm:pt modelId="{ACAD7B25-A38A-492E-BC76-93F82428E471}" type="sibTrans" cxnId="{B2E8599C-931F-4164-8D1D-0F01EF9F5022}">
      <dgm:prSet/>
      <dgm:spPr/>
      <dgm:t>
        <a:bodyPr/>
        <a:lstStyle/>
        <a:p>
          <a:endParaRPr lang="pt-PT"/>
        </a:p>
      </dgm:t>
    </dgm:pt>
    <dgm:pt modelId="{A6D44994-A6E3-41C2-843D-4C8FBC271B1E}">
      <dgm:prSet phldrT="[Text]" phldr="0"/>
      <dgm:spPr/>
      <dgm:t>
        <a:bodyPr/>
        <a:lstStyle/>
        <a:p>
          <a:r>
            <a:rPr lang="pt-PT" dirty="0"/>
            <a:t>NELSON</a:t>
          </a:r>
        </a:p>
      </dgm:t>
    </dgm:pt>
    <dgm:pt modelId="{8C467DA8-F721-477D-BD78-BBB18ACE8DA6}" type="parTrans" cxnId="{B9E3EE73-D3FC-4158-B89E-C89C87C096F2}">
      <dgm:prSet/>
      <dgm:spPr/>
      <dgm:t>
        <a:bodyPr/>
        <a:lstStyle/>
        <a:p>
          <a:endParaRPr lang="pt-PT"/>
        </a:p>
      </dgm:t>
    </dgm:pt>
    <dgm:pt modelId="{DD466B8C-9651-4F8C-AF25-0EA5DDDD5B5D}" type="sibTrans" cxnId="{B9E3EE73-D3FC-4158-B89E-C89C87C096F2}">
      <dgm:prSet/>
      <dgm:spPr/>
      <dgm:t>
        <a:bodyPr/>
        <a:lstStyle/>
        <a:p>
          <a:endParaRPr lang="pt-PT"/>
        </a:p>
      </dgm:t>
    </dgm:pt>
    <dgm:pt modelId="{0ECF63D5-FA24-4781-8BAE-CBC486CEC14E}" type="pres">
      <dgm:prSet presAssocID="{6A0489BA-7FED-4DE0-BBED-20770B297CE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82B1A61-B7D7-49AC-9DC3-2796B1E1407B}" type="pres">
      <dgm:prSet presAssocID="{FD1E1C9F-E724-473A-892C-E75212E55377}" presName="hierRoot1" presStyleCnt="0"/>
      <dgm:spPr/>
    </dgm:pt>
    <dgm:pt modelId="{21D220F1-EFBD-4ACF-8E87-08D49210A236}" type="pres">
      <dgm:prSet presAssocID="{FD1E1C9F-E724-473A-892C-E75212E55377}" presName="composite" presStyleCnt="0"/>
      <dgm:spPr/>
    </dgm:pt>
    <dgm:pt modelId="{38D7918C-F094-4B1E-B98E-13A7FAEEF6D1}" type="pres">
      <dgm:prSet presAssocID="{FD1E1C9F-E724-473A-892C-E75212E55377}" presName="image" presStyleLbl="node0" presStyleIdx="0" presStyleCnt="1" custScaleX="195241" custScaleY="175799" custLinFactNeighborX="-24957" custLinFactNeighborY="-17587"/>
      <dgm:spPr>
        <a:blipFill dpi="0" rotWithShape="1">
          <a:blip xmlns:r="http://schemas.openxmlformats.org/officeDocument/2006/relationships" r:embed="rId1"/>
          <a:srcRect/>
          <a:stretch>
            <a:fillRect l="799" t="-13658" r="-799" b="-64342"/>
          </a:stretch>
        </a:blipFill>
      </dgm:spPr>
    </dgm:pt>
    <dgm:pt modelId="{8F52F076-6E0B-41A4-AF55-90724D66D529}" type="pres">
      <dgm:prSet presAssocID="{FD1E1C9F-E724-473A-892C-E75212E55377}" presName="text" presStyleLbl="revTx" presStyleIdx="0" presStyleCnt="6">
        <dgm:presLayoutVars>
          <dgm:chPref val="3"/>
        </dgm:presLayoutVars>
      </dgm:prSet>
      <dgm:spPr/>
    </dgm:pt>
    <dgm:pt modelId="{FDB02C3E-7908-44EB-AE91-5EF8A973C5EF}" type="pres">
      <dgm:prSet presAssocID="{FD1E1C9F-E724-473A-892C-E75212E55377}" presName="hierChild2" presStyleCnt="0"/>
      <dgm:spPr/>
    </dgm:pt>
    <dgm:pt modelId="{E675617B-9188-46A3-83DE-449D94B0A843}" type="pres">
      <dgm:prSet presAssocID="{543F278E-4323-4A43-99D9-A54BEB9A4185}" presName="Name10" presStyleLbl="parChTrans1D2" presStyleIdx="0" presStyleCnt="2"/>
      <dgm:spPr/>
    </dgm:pt>
    <dgm:pt modelId="{9DBFE138-E0AB-41ED-88B0-32CF6D15D0C9}" type="pres">
      <dgm:prSet presAssocID="{DD6372F8-BA69-4D6D-9B49-3C857A10765C}" presName="hierRoot2" presStyleCnt="0"/>
      <dgm:spPr/>
    </dgm:pt>
    <dgm:pt modelId="{8E4FD3AA-46AB-4A06-AC99-8FD0AA41ABC1}" type="pres">
      <dgm:prSet presAssocID="{DD6372F8-BA69-4D6D-9B49-3C857A10765C}" presName="composite2" presStyleCnt="0"/>
      <dgm:spPr/>
    </dgm:pt>
    <dgm:pt modelId="{3368285B-2F3E-4B5D-A9F8-819FEE92BCDF}" type="pres">
      <dgm:prSet presAssocID="{DD6372F8-BA69-4D6D-9B49-3C857A10765C}" presName="image2" presStyleLbl="node2" presStyleIdx="0" presStyleCnt="2" custScaleX="159925" custScaleY="141584" custLinFactNeighborX="-51044" custLinFactNeighborY="-14717"/>
      <dgm:spPr>
        <a:blipFill dpi="0" rotWithShape="1">
          <a:blip xmlns:r="http://schemas.openxmlformats.org/officeDocument/2006/relationships" r:embed="rId2"/>
          <a:srcRect/>
          <a:stretch>
            <a:fillRect l="-1343" t="-20194" r="1343" b="-57806"/>
          </a:stretch>
        </a:blipFill>
      </dgm:spPr>
    </dgm:pt>
    <dgm:pt modelId="{471F6052-457A-42CA-80FB-497C822D2358}" type="pres">
      <dgm:prSet presAssocID="{DD6372F8-BA69-4D6D-9B49-3C857A10765C}" presName="text2" presStyleLbl="revTx" presStyleIdx="1" presStyleCnt="6">
        <dgm:presLayoutVars>
          <dgm:chPref val="3"/>
        </dgm:presLayoutVars>
      </dgm:prSet>
      <dgm:spPr/>
    </dgm:pt>
    <dgm:pt modelId="{355FB3C2-491D-4C85-B989-633B170FB5D1}" type="pres">
      <dgm:prSet presAssocID="{DD6372F8-BA69-4D6D-9B49-3C857A10765C}" presName="hierChild3" presStyleCnt="0"/>
      <dgm:spPr/>
    </dgm:pt>
    <dgm:pt modelId="{6FDF28CE-194F-406F-957E-06BA792CDA96}" type="pres">
      <dgm:prSet presAssocID="{5B197613-5BBC-47FD-90F1-8E10CEA09766}" presName="Name17" presStyleLbl="parChTrans1D3" presStyleIdx="0" presStyleCnt="3"/>
      <dgm:spPr/>
    </dgm:pt>
    <dgm:pt modelId="{46635CA2-1F00-4DC1-BA39-E58426FCD3B1}" type="pres">
      <dgm:prSet presAssocID="{FDF5224B-38B1-4F0B-88C5-FD3B6365F50A}" presName="hierRoot3" presStyleCnt="0"/>
      <dgm:spPr/>
    </dgm:pt>
    <dgm:pt modelId="{DE6935D8-FA81-4EE3-9544-C5514F3A6D66}" type="pres">
      <dgm:prSet presAssocID="{FDF5224B-38B1-4F0B-88C5-FD3B6365F50A}" presName="composite3" presStyleCnt="0"/>
      <dgm:spPr/>
    </dgm:pt>
    <dgm:pt modelId="{F0B04AB3-51CB-45FD-8050-86148BACD1AA}" type="pres">
      <dgm:prSet presAssocID="{FDF5224B-38B1-4F0B-88C5-FD3B6365F50A}" presName="image3" presStyleLbl="node3" presStyleIdx="0" presStyleCnt="3" custScaleX="123978" custScaleY="113964"/>
      <dgm:spPr>
        <a:blipFill dpi="0" rotWithShape="1">
          <a:blip xmlns:r="http://schemas.openxmlformats.org/officeDocument/2006/relationships" r:embed="rId3"/>
          <a:srcRect/>
          <a:stretch>
            <a:fillRect l="5373" t="-14821" r="-5373" b="-63179"/>
          </a:stretch>
        </a:blipFill>
      </dgm:spPr>
    </dgm:pt>
    <dgm:pt modelId="{DC850937-05DD-4773-86A3-ED182F1EED2A}" type="pres">
      <dgm:prSet presAssocID="{FDF5224B-38B1-4F0B-88C5-FD3B6365F50A}" presName="text3" presStyleLbl="revTx" presStyleIdx="2" presStyleCnt="6">
        <dgm:presLayoutVars>
          <dgm:chPref val="3"/>
        </dgm:presLayoutVars>
      </dgm:prSet>
      <dgm:spPr/>
    </dgm:pt>
    <dgm:pt modelId="{6055B95D-0500-4427-9AB0-08F15003B6E4}" type="pres">
      <dgm:prSet presAssocID="{FDF5224B-38B1-4F0B-88C5-FD3B6365F50A}" presName="hierChild4" presStyleCnt="0"/>
      <dgm:spPr/>
    </dgm:pt>
    <dgm:pt modelId="{8DBA8C56-1973-4A48-B279-76D0FF0237A9}" type="pres">
      <dgm:prSet presAssocID="{92B93E59-A917-456C-A910-B78DB21C8BB4}" presName="Name17" presStyleLbl="parChTrans1D3" presStyleIdx="1" presStyleCnt="3"/>
      <dgm:spPr/>
    </dgm:pt>
    <dgm:pt modelId="{CE56A935-98AE-4354-A027-3C9249244B5A}" type="pres">
      <dgm:prSet presAssocID="{9445E54E-E420-42E3-9B4D-2722E2B621EA}" presName="hierRoot3" presStyleCnt="0"/>
      <dgm:spPr/>
    </dgm:pt>
    <dgm:pt modelId="{1C647E88-42A9-49AE-9D38-4F77E2849C3A}" type="pres">
      <dgm:prSet presAssocID="{9445E54E-E420-42E3-9B4D-2722E2B621EA}" presName="composite3" presStyleCnt="0"/>
      <dgm:spPr/>
    </dgm:pt>
    <dgm:pt modelId="{1D49E93C-BF67-40D0-982D-38C8B72821EE}" type="pres">
      <dgm:prSet presAssocID="{9445E54E-E420-42E3-9B4D-2722E2B621EA}" presName="image3" presStyleLbl="node3" presStyleIdx="1" presStyleCnt="3" custScaleX="131449" custScaleY="115297" custLinFactNeighborX="-21597" custLinFactNeighborY="-9738"/>
      <dgm:spPr>
        <a:blipFill dpi="0" rotWithShape="1">
          <a:blip xmlns:r="http://schemas.openxmlformats.org/officeDocument/2006/relationships" r:embed="rId4"/>
          <a:srcRect/>
          <a:stretch>
            <a:fillRect l="-1710" t="-42697" r="1710" b="-40349"/>
          </a:stretch>
        </a:blipFill>
      </dgm:spPr>
    </dgm:pt>
    <dgm:pt modelId="{EC97655F-DAB6-4129-A7C0-018F6F84875C}" type="pres">
      <dgm:prSet presAssocID="{9445E54E-E420-42E3-9B4D-2722E2B621EA}" presName="text3" presStyleLbl="revTx" presStyleIdx="3" presStyleCnt="6">
        <dgm:presLayoutVars>
          <dgm:chPref val="3"/>
        </dgm:presLayoutVars>
      </dgm:prSet>
      <dgm:spPr/>
    </dgm:pt>
    <dgm:pt modelId="{CD2FA286-500F-4276-BA46-1F5BC02C95FE}" type="pres">
      <dgm:prSet presAssocID="{9445E54E-E420-42E3-9B4D-2722E2B621EA}" presName="hierChild4" presStyleCnt="0"/>
      <dgm:spPr/>
    </dgm:pt>
    <dgm:pt modelId="{4CAF798C-F011-4FD2-B086-29FBF9593A96}" type="pres">
      <dgm:prSet presAssocID="{306AC9BC-CEE9-4900-A02B-16104BFCACE3}" presName="Name10" presStyleLbl="parChTrans1D2" presStyleIdx="1" presStyleCnt="2"/>
      <dgm:spPr/>
    </dgm:pt>
    <dgm:pt modelId="{6303582E-5BC6-4F05-8F8D-293EAE208B20}" type="pres">
      <dgm:prSet presAssocID="{42168DDA-A005-48E8-9920-7DF6F994924A}" presName="hierRoot2" presStyleCnt="0"/>
      <dgm:spPr/>
    </dgm:pt>
    <dgm:pt modelId="{1534FFDF-B7F3-460E-94B5-689D910E4109}" type="pres">
      <dgm:prSet presAssocID="{42168DDA-A005-48E8-9920-7DF6F994924A}" presName="composite2" presStyleCnt="0"/>
      <dgm:spPr/>
    </dgm:pt>
    <dgm:pt modelId="{27A8BCFD-6416-49CC-BE0A-E3ADCDB30BD6}" type="pres">
      <dgm:prSet presAssocID="{42168DDA-A005-48E8-9920-7DF6F994924A}" presName="image2" presStyleLbl="node2" presStyleIdx="1" presStyleCnt="2"/>
      <dgm:spPr/>
    </dgm:pt>
    <dgm:pt modelId="{B388C2FB-54F6-4C00-95AA-D898D1242344}" type="pres">
      <dgm:prSet presAssocID="{42168DDA-A005-48E8-9920-7DF6F994924A}" presName="text2" presStyleLbl="revTx" presStyleIdx="4" presStyleCnt="6">
        <dgm:presLayoutVars>
          <dgm:chPref val="3"/>
        </dgm:presLayoutVars>
      </dgm:prSet>
      <dgm:spPr/>
    </dgm:pt>
    <dgm:pt modelId="{11266713-8FFC-487A-ABC8-92E41664F612}" type="pres">
      <dgm:prSet presAssocID="{42168DDA-A005-48E8-9920-7DF6F994924A}" presName="hierChild3" presStyleCnt="0"/>
      <dgm:spPr/>
    </dgm:pt>
    <dgm:pt modelId="{3244BFBA-1F82-4C0B-9D21-6AC716DDD94E}" type="pres">
      <dgm:prSet presAssocID="{8C467DA8-F721-477D-BD78-BBB18ACE8DA6}" presName="Name17" presStyleLbl="parChTrans1D3" presStyleIdx="2" presStyleCnt="3"/>
      <dgm:spPr/>
    </dgm:pt>
    <dgm:pt modelId="{088FFB0A-5710-4FA1-8601-E508D185C4F3}" type="pres">
      <dgm:prSet presAssocID="{A6D44994-A6E3-41C2-843D-4C8FBC271B1E}" presName="hierRoot3" presStyleCnt="0"/>
      <dgm:spPr/>
    </dgm:pt>
    <dgm:pt modelId="{581E9627-D277-4061-B39E-C3D8DED8D409}" type="pres">
      <dgm:prSet presAssocID="{A6D44994-A6E3-41C2-843D-4C8FBC271B1E}" presName="composite3" presStyleCnt="0"/>
      <dgm:spPr/>
    </dgm:pt>
    <dgm:pt modelId="{88EC96F8-89AC-4F40-8D3F-6ECA6F7251A7}" type="pres">
      <dgm:prSet presAssocID="{A6D44994-A6E3-41C2-843D-4C8FBC271B1E}" presName="image3" presStyleLbl="node3" presStyleIdx="2" presStyleCnt="3"/>
      <dgm:spPr/>
    </dgm:pt>
    <dgm:pt modelId="{F8791728-81B7-44BE-88E8-76678CE52FD2}" type="pres">
      <dgm:prSet presAssocID="{A6D44994-A6E3-41C2-843D-4C8FBC271B1E}" presName="text3" presStyleLbl="revTx" presStyleIdx="5" presStyleCnt="6">
        <dgm:presLayoutVars>
          <dgm:chPref val="3"/>
        </dgm:presLayoutVars>
      </dgm:prSet>
      <dgm:spPr/>
    </dgm:pt>
    <dgm:pt modelId="{AECE7286-CCB2-4C72-B8D9-BBCB30BE78AA}" type="pres">
      <dgm:prSet presAssocID="{A6D44994-A6E3-41C2-843D-4C8FBC271B1E}" presName="hierChild4" presStyleCnt="0"/>
      <dgm:spPr/>
    </dgm:pt>
  </dgm:ptLst>
  <dgm:cxnLst>
    <dgm:cxn modelId="{1F4B8503-9EB1-48E8-8A6D-49B528710E61}" type="presOf" srcId="{A6D44994-A6E3-41C2-843D-4C8FBC271B1E}" destId="{F8791728-81B7-44BE-88E8-76678CE52FD2}" srcOrd="0" destOrd="0" presId="urn:microsoft.com/office/officeart/2009/layout/CirclePictureHierarchy"/>
    <dgm:cxn modelId="{F480990C-408C-4FB7-9927-C2F8853F1A8D}" type="presOf" srcId="{543F278E-4323-4A43-99D9-A54BEB9A4185}" destId="{E675617B-9188-46A3-83DE-449D94B0A843}" srcOrd="0" destOrd="0" presId="urn:microsoft.com/office/officeart/2009/layout/CirclePictureHierarchy"/>
    <dgm:cxn modelId="{5FB9A91E-B33C-4C52-8AEE-71B499FDCAE8}" type="presOf" srcId="{6A0489BA-7FED-4DE0-BBED-20770B297CE8}" destId="{0ECF63D5-FA24-4781-8BAE-CBC486CEC14E}" srcOrd="0" destOrd="0" presId="urn:microsoft.com/office/officeart/2009/layout/CirclePictureHierarchy"/>
    <dgm:cxn modelId="{0EED9135-C9F5-4622-A34C-CD662FED8C6E}" type="presOf" srcId="{42168DDA-A005-48E8-9920-7DF6F994924A}" destId="{B388C2FB-54F6-4C00-95AA-D898D1242344}" srcOrd="0" destOrd="0" presId="urn:microsoft.com/office/officeart/2009/layout/CirclePictureHierarchy"/>
    <dgm:cxn modelId="{864F683F-4B17-44B6-8950-E5D286017CD1}" type="presOf" srcId="{8C467DA8-F721-477D-BD78-BBB18ACE8DA6}" destId="{3244BFBA-1F82-4C0B-9D21-6AC716DDD94E}" srcOrd="0" destOrd="0" presId="urn:microsoft.com/office/officeart/2009/layout/CirclePictureHierarchy"/>
    <dgm:cxn modelId="{AE6A4E40-7A16-42E2-AD01-AD7444C5A300}" type="presOf" srcId="{DD6372F8-BA69-4D6D-9B49-3C857A10765C}" destId="{471F6052-457A-42CA-80FB-497C822D2358}" srcOrd="0" destOrd="0" presId="urn:microsoft.com/office/officeart/2009/layout/CirclePictureHierarchy"/>
    <dgm:cxn modelId="{3216854C-1699-426A-B219-F49547931278}" srcId="{6A0489BA-7FED-4DE0-BBED-20770B297CE8}" destId="{FD1E1C9F-E724-473A-892C-E75212E55377}" srcOrd="0" destOrd="0" parTransId="{C24487CF-84F6-4BF9-A7BF-3EFE83686711}" sibTransId="{F363D294-78CD-4143-AC1C-CB5140BD4F06}"/>
    <dgm:cxn modelId="{5E912772-F36D-483E-A722-6DA6BDA47AC2}" type="presOf" srcId="{9445E54E-E420-42E3-9B4D-2722E2B621EA}" destId="{EC97655F-DAB6-4129-A7C0-018F6F84875C}" srcOrd="0" destOrd="0" presId="urn:microsoft.com/office/officeart/2009/layout/CirclePictureHierarchy"/>
    <dgm:cxn modelId="{B9E3EE73-D3FC-4158-B89E-C89C87C096F2}" srcId="{42168DDA-A005-48E8-9920-7DF6F994924A}" destId="{A6D44994-A6E3-41C2-843D-4C8FBC271B1E}" srcOrd="0" destOrd="0" parTransId="{8C467DA8-F721-477D-BD78-BBB18ACE8DA6}" sibTransId="{DD466B8C-9651-4F8C-AF25-0EA5DDDD5B5D}"/>
    <dgm:cxn modelId="{2AB28756-D27B-4DD3-AFF6-FDF50264677C}" srcId="{FD1E1C9F-E724-473A-892C-E75212E55377}" destId="{DD6372F8-BA69-4D6D-9B49-3C857A10765C}" srcOrd="0" destOrd="0" parTransId="{543F278E-4323-4A43-99D9-A54BEB9A4185}" sibTransId="{248EE542-60EE-48FA-90ED-306C18CC7809}"/>
    <dgm:cxn modelId="{EA239F59-509F-4ACB-A3F9-0BA494E63BCC}" type="presOf" srcId="{92B93E59-A917-456C-A910-B78DB21C8BB4}" destId="{8DBA8C56-1973-4A48-B279-76D0FF0237A9}" srcOrd="0" destOrd="0" presId="urn:microsoft.com/office/officeart/2009/layout/CirclePictureHierarchy"/>
    <dgm:cxn modelId="{B2E8599C-931F-4164-8D1D-0F01EF9F5022}" srcId="{FD1E1C9F-E724-473A-892C-E75212E55377}" destId="{42168DDA-A005-48E8-9920-7DF6F994924A}" srcOrd="1" destOrd="0" parTransId="{306AC9BC-CEE9-4900-A02B-16104BFCACE3}" sibTransId="{ACAD7B25-A38A-492E-BC76-93F82428E471}"/>
    <dgm:cxn modelId="{E5EEE2B5-1A03-4881-A5AA-14D16C02AE2B}" type="presOf" srcId="{306AC9BC-CEE9-4900-A02B-16104BFCACE3}" destId="{4CAF798C-F011-4FD2-B086-29FBF9593A96}" srcOrd="0" destOrd="0" presId="urn:microsoft.com/office/officeart/2009/layout/CirclePictureHierarchy"/>
    <dgm:cxn modelId="{BBF72EB6-0FB9-417B-A83C-3D52604965C4}" type="presOf" srcId="{FDF5224B-38B1-4F0B-88C5-FD3B6365F50A}" destId="{DC850937-05DD-4773-86A3-ED182F1EED2A}" srcOrd="0" destOrd="0" presId="urn:microsoft.com/office/officeart/2009/layout/CirclePictureHierarchy"/>
    <dgm:cxn modelId="{7843E8CC-6F25-41B0-9655-F264735A57AF}" type="presOf" srcId="{FD1E1C9F-E724-473A-892C-E75212E55377}" destId="{8F52F076-6E0B-41A4-AF55-90724D66D529}" srcOrd="0" destOrd="0" presId="urn:microsoft.com/office/officeart/2009/layout/CirclePictureHierarchy"/>
    <dgm:cxn modelId="{EE324ED8-C5AF-4F4F-9F3D-061E5E3819F2}" type="presOf" srcId="{5B197613-5BBC-47FD-90F1-8E10CEA09766}" destId="{6FDF28CE-194F-406F-957E-06BA792CDA96}" srcOrd="0" destOrd="0" presId="urn:microsoft.com/office/officeart/2009/layout/CirclePictureHierarchy"/>
    <dgm:cxn modelId="{9C275CE0-B0A5-4AEE-955D-68C0831CE25B}" srcId="{DD6372F8-BA69-4D6D-9B49-3C857A10765C}" destId="{9445E54E-E420-42E3-9B4D-2722E2B621EA}" srcOrd="1" destOrd="0" parTransId="{92B93E59-A917-456C-A910-B78DB21C8BB4}" sibTransId="{519E5AD9-8BD5-449F-8336-046DCBE41E29}"/>
    <dgm:cxn modelId="{82D8E1FB-02EA-4EDE-8109-F7A367AD6237}" srcId="{DD6372F8-BA69-4D6D-9B49-3C857A10765C}" destId="{FDF5224B-38B1-4F0B-88C5-FD3B6365F50A}" srcOrd="0" destOrd="0" parTransId="{5B197613-5BBC-47FD-90F1-8E10CEA09766}" sibTransId="{7100053A-535D-42A7-91CA-2DE2DD29CFFF}"/>
    <dgm:cxn modelId="{19FA2294-72CC-4FE6-888A-8DD9F1B75C81}" type="presParOf" srcId="{0ECF63D5-FA24-4781-8BAE-CBC486CEC14E}" destId="{782B1A61-B7D7-49AC-9DC3-2796B1E1407B}" srcOrd="0" destOrd="0" presId="urn:microsoft.com/office/officeart/2009/layout/CirclePictureHierarchy"/>
    <dgm:cxn modelId="{294C36C4-2C8C-404A-98E8-45086FB90D0B}" type="presParOf" srcId="{782B1A61-B7D7-49AC-9DC3-2796B1E1407B}" destId="{21D220F1-EFBD-4ACF-8E87-08D49210A236}" srcOrd="0" destOrd="0" presId="urn:microsoft.com/office/officeart/2009/layout/CirclePictureHierarchy"/>
    <dgm:cxn modelId="{73B99019-21E4-4317-8129-67C751EEB31C}" type="presParOf" srcId="{21D220F1-EFBD-4ACF-8E87-08D49210A236}" destId="{38D7918C-F094-4B1E-B98E-13A7FAEEF6D1}" srcOrd="0" destOrd="0" presId="urn:microsoft.com/office/officeart/2009/layout/CirclePictureHierarchy"/>
    <dgm:cxn modelId="{3D55A968-4A65-4D31-BD7C-3B4FA77E878A}" type="presParOf" srcId="{21D220F1-EFBD-4ACF-8E87-08D49210A236}" destId="{8F52F076-6E0B-41A4-AF55-90724D66D529}" srcOrd="1" destOrd="0" presId="urn:microsoft.com/office/officeart/2009/layout/CirclePictureHierarchy"/>
    <dgm:cxn modelId="{030E53C4-1700-4403-A55C-67113D60B4B4}" type="presParOf" srcId="{782B1A61-B7D7-49AC-9DC3-2796B1E1407B}" destId="{FDB02C3E-7908-44EB-AE91-5EF8A973C5EF}" srcOrd="1" destOrd="0" presId="urn:microsoft.com/office/officeart/2009/layout/CirclePictureHierarchy"/>
    <dgm:cxn modelId="{A06B8F32-3EF2-47D5-A39D-161B1EB27BB9}" type="presParOf" srcId="{FDB02C3E-7908-44EB-AE91-5EF8A973C5EF}" destId="{E675617B-9188-46A3-83DE-449D94B0A843}" srcOrd="0" destOrd="0" presId="urn:microsoft.com/office/officeart/2009/layout/CirclePictureHierarchy"/>
    <dgm:cxn modelId="{276408DF-81FA-447F-B917-1C629A65F692}" type="presParOf" srcId="{FDB02C3E-7908-44EB-AE91-5EF8A973C5EF}" destId="{9DBFE138-E0AB-41ED-88B0-32CF6D15D0C9}" srcOrd="1" destOrd="0" presId="urn:microsoft.com/office/officeart/2009/layout/CirclePictureHierarchy"/>
    <dgm:cxn modelId="{080FA34C-0936-4201-817B-015459139BF5}" type="presParOf" srcId="{9DBFE138-E0AB-41ED-88B0-32CF6D15D0C9}" destId="{8E4FD3AA-46AB-4A06-AC99-8FD0AA41ABC1}" srcOrd="0" destOrd="0" presId="urn:microsoft.com/office/officeart/2009/layout/CirclePictureHierarchy"/>
    <dgm:cxn modelId="{46E605A3-3BB7-4A04-9F74-880B0BB54E8D}" type="presParOf" srcId="{8E4FD3AA-46AB-4A06-AC99-8FD0AA41ABC1}" destId="{3368285B-2F3E-4B5D-A9F8-819FEE92BCDF}" srcOrd="0" destOrd="0" presId="urn:microsoft.com/office/officeart/2009/layout/CirclePictureHierarchy"/>
    <dgm:cxn modelId="{F9D1A689-FC08-4320-AD99-BD56AEF5E891}" type="presParOf" srcId="{8E4FD3AA-46AB-4A06-AC99-8FD0AA41ABC1}" destId="{471F6052-457A-42CA-80FB-497C822D2358}" srcOrd="1" destOrd="0" presId="urn:microsoft.com/office/officeart/2009/layout/CirclePictureHierarchy"/>
    <dgm:cxn modelId="{E94E2B3F-77EF-4C90-ACCF-147ED81A33B4}" type="presParOf" srcId="{9DBFE138-E0AB-41ED-88B0-32CF6D15D0C9}" destId="{355FB3C2-491D-4C85-B989-633B170FB5D1}" srcOrd="1" destOrd="0" presId="urn:microsoft.com/office/officeart/2009/layout/CirclePictureHierarchy"/>
    <dgm:cxn modelId="{48153742-744C-4439-8B30-336FD03F0DC0}" type="presParOf" srcId="{355FB3C2-491D-4C85-B989-633B170FB5D1}" destId="{6FDF28CE-194F-406F-957E-06BA792CDA96}" srcOrd="0" destOrd="0" presId="urn:microsoft.com/office/officeart/2009/layout/CirclePictureHierarchy"/>
    <dgm:cxn modelId="{C735A2B7-7509-44EC-B13D-FECFB3B24578}" type="presParOf" srcId="{355FB3C2-491D-4C85-B989-633B170FB5D1}" destId="{46635CA2-1F00-4DC1-BA39-E58426FCD3B1}" srcOrd="1" destOrd="0" presId="urn:microsoft.com/office/officeart/2009/layout/CirclePictureHierarchy"/>
    <dgm:cxn modelId="{47D8F209-9E6A-4F99-87F3-B0DB11F558FD}" type="presParOf" srcId="{46635CA2-1F00-4DC1-BA39-E58426FCD3B1}" destId="{DE6935D8-FA81-4EE3-9544-C5514F3A6D66}" srcOrd="0" destOrd="0" presId="urn:microsoft.com/office/officeart/2009/layout/CirclePictureHierarchy"/>
    <dgm:cxn modelId="{7EE27418-0A32-4BD4-A388-B685DAD3AA4E}" type="presParOf" srcId="{DE6935D8-FA81-4EE3-9544-C5514F3A6D66}" destId="{F0B04AB3-51CB-45FD-8050-86148BACD1AA}" srcOrd="0" destOrd="0" presId="urn:microsoft.com/office/officeart/2009/layout/CirclePictureHierarchy"/>
    <dgm:cxn modelId="{162B7032-4D6E-49D6-B9A0-248ADD45F40A}" type="presParOf" srcId="{DE6935D8-FA81-4EE3-9544-C5514F3A6D66}" destId="{DC850937-05DD-4773-86A3-ED182F1EED2A}" srcOrd="1" destOrd="0" presId="urn:microsoft.com/office/officeart/2009/layout/CirclePictureHierarchy"/>
    <dgm:cxn modelId="{24BA0C8C-708E-49A9-8661-9A6690091407}" type="presParOf" srcId="{46635CA2-1F00-4DC1-BA39-E58426FCD3B1}" destId="{6055B95D-0500-4427-9AB0-08F15003B6E4}" srcOrd="1" destOrd="0" presId="urn:microsoft.com/office/officeart/2009/layout/CirclePictureHierarchy"/>
    <dgm:cxn modelId="{B88FCC07-CD8E-4186-A270-FABBE7B0286B}" type="presParOf" srcId="{355FB3C2-491D-4C85-B989-633B170FB5D1}" destId="{8DBA8C56-1973-4A48-B279-76D0FF0237A9}" srcOrd="2" destOrd="0" presId="urn:microsoft.com/office/officeart/2009/layout/CirclePictureHierarchy"/>
    <dgm:cxn modelId="{DF16884B-4E67-4E76-A564-3F5EB9B3EBDC}" type="presParOf" srcId="{355FB3C2-491D-4C85-B989-633B170FB5D1}" destId="{CE56A935-98AE-4354-A027-3C9249244B5A}" srcOrd="3" destOrd="0" presId="urn:microsoft.com/office/officeart/2009/layout/CirclePictureHierarchy"/>
    <dgm:cxn modelId="{9AF01F5E-4C36-4D0F-9E75-1F89544199F5}" type="presParOf" srcId="{CE56A935-98AE-4354-A027-3C9249244B5A}" destId="{1C647E88-42A9-49AE-9D38-4F77E2849C3A}" srcOrd="0" destOrd="0" presId="urn:microsoft.com/office/officeart/2009/layout/CirclePictureHierarchy"/>
    <dgm:cxn modelId="{0804BB21-8AB7-4149-BC69-5F55EDA70408}" type="presParOf" srcId="{1C647E88-42A9-49AE-9D38-4F77E2849C3A}" destId="{1D49E93C-BF67-40D0-982D-38C8B72821EE}" srcOrd="0" destOrd="0" presId="urn:microsoft.com/office/officeart/2009/layout/CirclePictureHierarchy"/>
    <dgm:cxn modelId="{EE90F81B-C31F-4F5C-88FA-12DADF603D15}" type="presParOf" srcId="{1C647E88-42A9-49AE-9D38-4F77E2849C3A}" destId="{EC97655F-DAB6-4129-A7C0-018F6F84875C}" srcOrd="1" destOrd="0" presId="urn:microsoft.com/office/officeart/2009/layout/CirclePictureHierarchy"/>
    <dgm:cxn modelId="{9578CFEA-EB4F-4741-B0D4-4965B943FA5C}" type="presParOf" srcId="{CE56A935-98AE-4354-A027-3C9249244B5A}" destId="{CD2FA286-500F-4276-BA46-1F5BC02C95FE}" srcOrd="1" destOrd="0" presId="urn:microsoft.com/office/officeart/2009/layout/CirclePictureHierarchy"/>
    <dgm:cxn modelId="{8C002FA1-4381-44E1-91C6-8D107A689E98}" type="presParOf" srcId="{FDB02C3E-7908-44EB-AE91-5EF8A973C5EF}" destId="{4CAF798C-F011-4FD2-B086-29FBF9593A96}" srcOrd="2" destOrd="0" presId="urn:microsoft.com/office/officeart/2009/layout/CirclePictureHierarchy"/>
    <dgm:cxn modelId="{81678A09-9B94-4E2A-9FD8-360702D92151}" type="presParOf" srcId="{FDB02C3E-7908-44EB-AE91-5EF8A973C5EF}" destId="{6303582E-5BC6-4F05-8F8D-293EAE208B20}" srcOrd="3" destOrd="0" presId="urn:microsoft.com/office/officeart/2009/layout/CirclePictureHierarchy"/>
    <dgm:cxn modelId="{561396E5-C537-4F4F-85DE-EC074C49F66B}" type="presParOf" srcId="{6303582E-5BC6-4F05-8F8D-293EAE208B20}" destId="{1534FFDF-B7F3-460E-94B5-689D910E4109}" srcOrd="0" destOrd="0" presId="urn:microsoft.com/office/officeart/2009/layout/CirclePictureHierarchy"/>
    <dgm:cxn modelId="{E0447F50-D4D9-4DF3-8263-996CB630A216}" type="presParOf" srcId="{1534FFDF-B7F3-460E-94B5-689D910E4109}" destId="{27A8BCFD-6416-49CC-BE0A-E3ADCDB30BD6}" srcOrd="0" destOrd="0" presId="urn:microsoft.com/office/officeart/2009/layout/CirclePictureHierarchy"/>
    <dgm:cxn modelId="{AF27AB73-5107-420B-8B2A-5E30AFCDE0A4}" type="presParOf" srcId="{1534FFDF-B7F3-460E-94B5-689D910E4109}" destId="{B388C2FB-54F6-4C00-95AA-D898D1242344}" srcOrd="1" destOrd="0" presId="urn:microsoft.com/office/officeart/2009/layout/CirclePictureHierarchy"/>
    <dgm:cxn modelId="{A37E72F3-38D8-42BB-9C61-FA4634A4C47D}" type="presParOf" srcId="{6303582E-5BC6-4F05-8F8D-293EAE208B20}" destId="{11266713-8FFC-487A-ABC8-92E41664F612}" srcOrd="1" destOrd="0" presId="urn:microsoft.com/office/officeart/2009/layout/CirclePictureHierarchy"/>
    <dgm:cxn modelId="{82F156E6-E897-497B-9572-B19E663E37EF}" type="presParOf" srcId="{11266713-8FFC-487A-ABC8-92E41664F612}" destId="{3244BFBA-1F82-4C0B-9D21-6AC716DDD94E}" srcOrd="0" destOrd="0" presId="urn:microsoft.com/office/officeart/2009/layout/CirclePictureHierarchy"/>
    <dgm:cxn modelId="{0ED651C5-B38E-41AB-B72C-C3DACB24E491}" type="presParOf" srcId="{11266713-8FFC-487A-ABC8-92E41664F612}" destId="{088FFB0A-5710-4FA1-8601-E508D185C4F3}" srcOrd="1" destOrd="0" presId="urn:microsoft.com/office/officeart/2009/layout/CirclePictureHierarchy"/>
    <dgm:cxn modelId="{EBC565AD-BF31-4A7C-8C9D-85864881C66D}" type="presParOf" srcId="{088FFB0A-5710-4FA1-8601-E508D185C4F3}" destId="{581E9627-D277-4061-B39E-C3D8DED8D409}" srcOrd="0" destOrd="0" presId="urn:microsoft.com/office/officeart/2009/layout/CirclePictureHierarchy"/>
    <dgm:cxn modelId="{385A3909-E619-4F6E-8CB3-444E7176C4EB}" type="presParOf" srcId="{581E9627-D277-4061-B39E-C3D8DED8D409}" destId="{88EC96F8-89AC-4F40-8D3F-6ECA6F7251A7}" srcOrd="0" destOrd="0" presId="urn:microsoft.com/office/officeart/2009/layout/CirclePictureHierarchy"/>
    <dgm:cxn modelId="{4D6639F8-3578-4202-8A89-072F40447C0D}" type="presParOf" srcId="{581E9627-D277-4061-B39E-C3D8DED8D409}" destId="{F8791728-81B7-44BE-88E8-76678CE52FD2}" srcOrd="1" destOrd="0" presId="urn:microsoft.com/office/officeart/2009/layout/CirclePictureHierarchy"/>
    <dgm:cxn modelId="{C69F2CA2-1566-485A-A21F-05208A9E5104}" type="presParOf" srcId="{088FFB0A-5710-4FA1-8601-E508D185C4F3}" destId="{AECE7286-CCB2-4C72-B8D9-BBCB30BE78AA}" srcOrd="1" destOrd="0" presId="urn:microsoft.com/office/officeart/2009/layout/CirclePicture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44BFBA-1F82-4C0B-9D21-6AC716DDD94E}">
      <dsp:nvSpPr>
        <dsp:cNvPr id="0" name=""/>
        <dsp:cNvSpPr/>
      </dsp:nvSpPr>
      <dsp:spPr>
        <a:xfrm>
          <a:off x="6116375" y="3295123"/>
          <a:ext cx="91440" cy="30903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09038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AF798C-F011-4FD2-B086-29FBF9593A96}">
      <dsp:nvSpPr>
        <dsp:cNvPr id="0" name=""/>
        <dsp:cNvSpPr/>
      </dsp:nvSpPr>
      <dsp:spPr>
        <a:xfrm>
          <a:off x="3985916" y="1832468"/>
          <a:ext cx="2176178" cy="481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8287"/>
              </a:lnTo>
              <a:lnTo>
                <a:pt x="2176178" y="328287"/>
              </a:lnTo>
              <a:lnTo>
                <a:pt x="2176178" y="481580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BA8C56-1973-4A48-B279-76D0FF0237A9}">
      <dsp:nvSpPr>
        <dsp:cNvPr id="0" name=""/>
        <dsp:cNvSpPr/>
      </dsp:nvSpPr>
      <dsp:spPr>
        <a:xfrm>
          <a:off x="1625413" y="3556256"/>
          <a:ext cx="1626843" cy="3554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140"/>
              </a:lnTo>
              <a:lnTo>
                <a:pt x="1626843" y="202140"/>
              </a:lnTo>
              <a:lnTo>
                <a:pt x="1626843" y="35543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DF28CE-194F-406F-957E-06BA792CDA96}">
      <dsp:nvSpPr>
        <dsp:cNvPr id="0" name=""/>
        <dsp:cNvSpPr/>
      </dsp:nvSpPr>
      <dsp:spPr>
        <a:xfrm>
          <a:off x="611913" y="3556256"/>
          <a:ext cx="1013499" cy="450970"/>
        </a:xfrm>
        <a:custGeom>
          <a:avLst/>
          <a:gdLst/>
          <a:ahLst/>
          <a:cxnLst/>
          <a:rect l="0" t="0" r="0" b="0"/>
          <a:pathLst>
            <a:path>
              <a:moveTo>
                <a:pt x="1013499" y="0"/>
              </a:moveTo>
              <a:lnTo>
                <a:pt x="1013499" y="297677"/>
              </a:lnTo>
              <a:lnTo>
                <a:pt x="0" y="297677"/>
              </a:lnTo>
              <a:lnTo>
                <a:pt x="0" y="450970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75617B-9188-46A3-83DE-449D94B0A843}">
      <dsp:nvSpPr>
        <dsp:cNvPr id="0" name=""/>
        <dsp:cNvSpPr/>
      </dsp:nvSpPr>
      <dsp:spPr>
        <a:xfrm>
          <a:off x="1625413" y="1832468"/>
          <a:ext cx="2360503" cy="334742"/>
        </a:xfrm>
        <a:custGeom>
          <a:avLst/>
          <a:gdLst/>
          <a:ahLst/>
          <a:cxnLst/>
          <a:rect l="0" t="0" r="0" b="0"/>
          <a:pathLst>
            <a:path>
              <a:moveTo>
                <a:pt x="2360503" y="0"/>
              </a:moveTo>
              <a:lnTo>
                <a:pt x="2360503" y="181449"/>
              </a:lnTo>
              <a:lnTo>
                <a:pt x="0" y="181449"/>
              </a:lnTo>
              <a:lnTo>
                <a:pt x="0" y="334742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D7918C-F094-4B1E-B98E-13A7FAEEF6D1}">
      <dsp:nvSpPr>
        <dsp:cNvPr id="0" name=""/>
        <dsp:cNvSpPr/>
      </dsp:nvSpPr>
      <dsp:spPr>
        <a:xfrm>
          <a:off x="3028185" y="107748"/>
          <a:ext cx="1915460" cy="1724720"/>
        </a:xfrm>
        <a:prstGeom prst="ellipse">
          <a:avLst/>
        </a:prstGeom>
        <a:blipFill dpi="0" rotWithShape="1">
          <a:blip xmlns:r="http://schemas.openxmlformats.org/officeDocument/2006/relationships" r:embed="rId1"/>
          <a:srcRect/>
          <a:stretch>
            <a:fillRect l="799" t="-13658" r="-799" b="-64342"/>
          </a:stretch>
        </a:blip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F52F076-6E0B-41A4-AF55-90724D66D529}">
      <dsp:nvSpPr>
        <dsp:cNvPr id="0" name=""/>
        <dsp:cNvSpPr/>
      </dsp:nvSpPr>
      <dsp:spPr>
        <a:xfrm>
          <a:off x="4721300" y="649659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ARS</a:t>
          </a:r>
        </a:p>
      </dsp:txBody>
      <dsp:txXfrm>
        <a:off x="4721300" y="649659"/>
        <a:ext cx="1471612" cy="981075"/>
      </dsp:txXfrm>
    </dsp:sp>
    <dsp:sp modelId="{3368285B-2F3E-4B5D-A9F8-819FEE92BCDF}">
      <dsp:nvSpPr>
        <dsp:cNvPr id="0" name=""/>
        <dsp:cNvSpPr/>
      </dsp:nvSpPr>
      <dsp:spPr>
        <a:xfrm>
          <a:off x="840920" y="2167211"/>
          <a:ext cx="1568984" cy="1389045"/>
        </a:xfrm>
        <a:prstGeom prst="ellipse">
          <a:avLst/>
        </a:prstGeom>
        <a:blipFill dpi="0" rotWithShape="1">
          <a:blip xmlns:r="http://schemas.openxmlformats.org/officeDocument/2006/relationships" r:embed="rId2"/>
          <a:srcRect/>
          <a:stretch>
            <a:fillRect l="-1343" t="-20194" r="1343" b="-57806"/>
          </a:stretch>
        </a:blip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71F6052-457A-42CA-80FB-497C822D2358}">
      <dsp:nvSpPr>
        <dsp:cNvPr id="0" name=""/>
        <dsp:cNvSpPr/>
      </dsp:nvSpPr>
      <dsp:spPr>
        <a:xfrm>
          <a:off x="2616730" y="2513128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ANA</a:t>
          </a:r>
        </a:p>
      </dsp:txBody>
      <dsp:txXfrm>
        <a:off x="2616730" y="2513128"/>
        <a:ext cx="1471612" cy="981075"/>
      </dsp:txXfrm>
    </dsp:sp>
    <dsp:sp modelId="{F0B04AB3-51CB-45FD-8050-86148BACD1AA}">
      <dsp:nvSpPr>
        <dsp:cNvPr id="0" name=""/>
        <dsp:cNvSpPr/>
      </dsp:nvSpPr>
      <dsp:spPr>
        <a:xfrm>
          <a:off x="3754" y="4007227"/>
          <a:ext cx="1216317" cy="1118072"/>
        </a:xfrm>
        <a:prstGeom prst="ellipse">
          <a:avLst/>
        </a:prstGeom>
        <a:blipFill dpi="0" rotWithShape="1">
          <a:blip xmlns:r="http://schemas.openxmlformats.org/officeDocument/2006/relationships" r:embed="rId3"/>
          <a:srcRect/>
          <a:stretch>
            <a:fillRect l="5373" t="-14821" r="-5373" b="-63179"/>
          </a:stretch>
        </a:blip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C850937-05DD-4773-86A3-ED182F1EED2A}">
      <dsp:nvSpPr>
        <dsp:cNvPr id="0" name=""/>
        <dsp:cNvSpPr/>
      </dsp:nvSpPr>
      <dsp:spPr>
        <a:xfrm>
          <a:off x="1102450" y="4073273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JOSEFINA</a:t>
          </a:r>
        </a:p>
      </dsp:txBody>
      <dsp:txXfrm>
        <a:off x="1102450" y="4073273"/>
        <a:ext cx="1471612" cy="981075"/>
      </dsp:txXfrm>
    </dsp:sp>
    <dsp:sp modelId="{1D49E93C-BF67-40D0-982D-38C8B72821EE}">
      <dsp:nvSpPr>
        <dsp:cNvPr id="0" name=""/>
        <dsp:cNvSpPr/>
      </dsp:nvSpPr>
      <dsp:spPr>
        <a:xfrm>
          <a:off x="2607449" y="3911689"/>
          <a:ext cx="1289613" cy="1131150"/>
        </a:xfrm>
        <a:prstGeom prst="ellipse">
          <a:avLst/>
        </a:prstGeom>
        <a:blipFill dpi="0" rotWithShape="1">
          <a:blip xmlns:r="http://schemas.openxmlformats.org/officeDocument/2006/relationships" r:embed="rId4"/>
          <a:srcRect/>
          <a:stretch>
            <a:fillRect l="-1710" t="-42697" r="1710" b="-40349"/>
          </a:stretch>
        </a:blip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C97655F-DAB6-4129-A7C0-018F6F84875C}">
      <dsp:nvSpPr>
        <dsp:cNvPr id="0" name=""/>
        <dsp:cNvSpPr/>
      </dsp:nvSpPr>
      <dsp:spPr>
        <a:xfrm>
          <a:off x="3954676" y="4079811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ISABEL</a:t>
          </a:r>
        </a:p>
      </dsp:txBody>
      <dsp:txXfrm>
        <a:off x="3954676" y="4079811"/>
        <a:ext cx="1471612" cy="981075"/>
      </dsp:txXfrm>
    </dsp:sp>
    <dsp:sp modelId="{27A8BCFD-6416-49CC-BE0A-E3ADCDB30BD6}">
      <dsp:nvSpPr>
        <dsp:cNvPr id="0" name=""/>
        <dsp:cNvSpPr/>
      </dsp:nvSpPr>
      <dsp:spPr>
        <a:xfrm>
          <a:off x="5671557" y="2314048"/>
          <a:ext cx="981075" cy="98107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388C2FB-54F6-4C00-95AA-D898D1242344}">
      <dsp:nvSpPr>
        <dsp:cNvPr id="0" name=""/>
        <dsp:cNvSpPr/>
      </dsp:nvSpPr>
      <dsp:spPr>
        <a:xfrm>
          <a:off x="6652632" y="2311595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MIRANDA</a:t>
          </a:r>
        </a:p>
      </dsp:txBody>
      <dsp:txXfrm>
        <a:off x="6652632" y="2311595"/>
        <a:ext cx="1471612" cy="981075"/>
      </dsp:txXfrm>
    </dsp:sp>
    <dsp:sp modelId="{88EC96F8-89AC-4F40-8D3F-6ECA6F7251A7}">
      <dsp:nvSpPr>
        <dsp:cNvPr id="0" name=""/>
        <dsp:cNvSpPr/>
      </dsp:nvSpPr>
      <dsp:spPr>
        <a:xfrm>
          <a:off x="5671557" y="3604162"/>
          <a:ext cx="981075" cy="981075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8791728-81B7-44BE-88E8-76678CE52FD2}">
      <dsp:nvSpPr>
        <dsp:cNvPr id="0" name=""/>
        <dsp:cNvSpPr/>
      </dsp:nvSpPr>
      <dsp:spPr>
        <a:xfrm>
          <a:off x="6652632" y="3601709"/>
          <a:ext cx="1471612" cy="9810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500" kern="1200" dirty="0"/>
            <a:t>NELSON</a:t>
          </a:r>
        </a:p>
      </dsp:txBody>
      <dsp:txXfrm>
        <a:off x="6652632" y="3601709"/>
        <a:ext cx="1471612" cy="9810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PictureHierarchy">
  <dgm:title val=""/>
  <dgm:desc val=""/>
  <dgm:catLst>
    <dgm:cat type="hierarchy" pri="1750"/>
    <dgm:cat type="picture" pri="23000"/>
    <dgm:cat type="pictureconvert" pri="2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5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h" for="ch" forName="image" refType="h" fact="0.8"/>
              <dgm:constr type="w" for="ch" forName="image" refType="h" refFor="ch" refForName="image"/>
              <dgm:constr type="t" for="ch" forName="image" refType="h" fact="0.1"/>
              <dgm:constr type="l" for="ch" forName="image"/>
              <dgm:constr type="w" for="ch" forName="text" refType="w" fact="0.6"/>
              <dgm:constr type="h" for="ch" forName="text" refType="h" fact="0.8"/>
              <dgm:constr type="t" for="ch" forName="text" refType="w" fact="0.04"/>
              <dgm:constr type="l" for="ch" forName="text" refType="w" fact="0.4"/>
            </dgm:constrLst>
            <dgm:ruleLst/>
            <dgm:layoutNode name="image" styleLbl="node0">
              <dgm:alg type="sp"/>
              <dgm:shape xmlns:r="http://schemas.openxmlformats.org/officeDocument/2006/relationships" type="ellipse" r:blip="" blipPhldr="1">
                <dgm:adjLst/>
              </dgm:shape>
              <dgm:presOf/>
              <dgm:constrLst/>
              <dgm:ruleLst/>
            </dgm:layoutNode>
            <dgm:layoutNode name="text" styleLbl="revTx">
              <dgm:varLst>
                <dgm:chPref val="3"/>
              </dgm:varLst>
              <dgm:alg type="tx">
                <dgm:param type="parTxLTRAlign" val="l"/>
                <dgm:param type="parTxRTLAlign" val="r"/>
              </dgm:alg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image"/>
                    <dgm:param type="dstNode" val="image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h" for="ch" forName="image2" refType="h" fact="0.8"/>
                      <dgm:constr type="w" for="ch" forName="image2" refType="h" refFor="ch" refForName="image2"/>
                      <dgm:constr type="t" for="ch" forName="image2" refType="h" fact="0.1"/>
                      <dgm:constr type="l" for="ch" forName="image2"/>
                      <dgm:constr type="w" for="ch" forName="text2" refType="w" fact="0.6"/>
                      <dgm:constr type="h" for="ch" forName="text2" refType="h" fact="0.8"/>
                      <dgm:constr type="t" for="ch" forName="text2" refType="w" fact="0.04"/>
                      <dgm:constr type="l" for="ch" forName="text2" refType="w" fact="0.4"/>
                    </dgm:constrLst>
                    <dgm:ruleLst/>
                    <dgm:layoutNode name="image2">
                      <dgm:alg type="sp"/>
                      <dgm:shape xmlns:r="http://schemas.openxmlformats.org/officeDocument/2006/relationships" type="ellipse" r:blip="" blipPhldr="1">
                        <dgm:adjLst/>
                      </dgm:shape>
                      <dgm:presOf/>
                      <dgm:constrLst/>
                      <dgm:ruleLst/>
                    </dgm:layoutNode>
                    <dgm:layoutNode name="text2" styleLbl="revTx">
                      <dgm:varLst>
                        <dgm:chPref val="3"/>
                      </dgm:varLst>
                      <dgm:alg type="tx">
                        <dgm:param type="parTxLTRAlign" val="l"/>
                        <dgm:param type="parTxRTLAlign" val="r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image2"/>
                            <dgm:param type="dstNode" val="image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h" for="ch" forName="image3" refType="h" fact="0.8"/>
                              <dgm:constr type="w" for="ch" forName="image3" refType="h" refFor="ch" refForName="image3"/>
                              <dgm:constr type="t" for="ch" forName="image3" refType="h" fact="0.1"/>
                              <dgm:constr type="l" for="ch" forName="image3"/>
                              <dgm:constr type="w" for="ch" forName="text3" refType="w" fact="0.6"/>
                              <dgm:constr type="h" for="ch" forName="text3" refType="h" fact="0.8"/>
                              <dgm:constr type="t" for="ch" forName="text3" refType="w" fact="0.04"/>
                              <dgm:constr type="l" for="ch" forName="text3" refType="w" fact="0.4"/>
                            </dgm:constrLst>
                            <dgm:ruleLst/>
                            <dgm:layoutNode name="image3">
                              <dgm:alg type="sp"/>
                              <dgm:shape xmlns:r="http://schemas.openxmlformats.org/officeDocument/2006/relationships" type="ellipse" r:blip="" blipPhldr="1">
                                <dgm:adjLst/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revTx">
                              <dgm:varLst>
                                <dgm:chPref val="3"/>
                              </dgm:varLst>
                              <dgm:alg type="tx">
                                <dgm:param type="parTxLTRAlign" val="l"/>
                                <dgm:param type="parTxRTLAlign" val="r"/>
                              </dgm:alg>
                              <dgm:shape xmlns:r="http://schemas.openxmlformats.org/officeDocument/2006/relationships" type="rect" r:blip="">
                                <dgm:adjLst/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3"/>
                                        <dgm:param type="dstNode" val="image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4"/>
                                        <dgm:param type="dstNode" val="image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h" for="ch" forName="image4" refType="h" fact="0.8"/>
                                      <dgm:constr type="w" for="ch" forName="image4" refType="h" refFor="ch" refForName="image4"/>
                                      <dgm:constr type="t" for="ch" forName="image4" refType="h" fact="0.1"/>
                                      <dgm:constr type="l" for="ch" forName="image4"/>
                                      <dgm:constr type="w" for="ch" forName="text4" refType="w" fact="0.6"/>
                                      <dgm:constr type="h" for="ch" forName="text4" refType="h" fact="0.8"/>
                                      <dgm:constr type="t" for="ch" forName="text4" refType="w" fact="0.04"/>
                                      <dgm:constr type="l" for="ch" forName="text4" refType="w" fact="0.4"/>
                                    </dgm:constrLst>
                                    <dgm:ruleLst/>
                                    <dgm:layoutNode name="image4">
                                      <dgm:alg type="sp"/>
                                      <dgm:shape xmlns:r="http://schemas.openxmlformats.org/officeDocument/2006/relationships" type="ellipse" r:blip="" blipPhldr="1">
                                        <dgm:adjLst/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revTx">
                                      <dgm:varLst>
                                        <dgm:chPref val="3"/>
                                      </dgm:varLst>
                                      <dgm:alg type="tx">
                                        <dgm:param type="parTxLTRAlign" val="l"/>
                                        <dgm:param type="parTxRTLAlign" val="r"/>
                                      </dgm:alg>
                                      <dgm:shape xmlns:r="http://schemas.openxmlformats.org/officeDocument/2006/relationships" type="rect" r:blip="">
                                        <dgm:adjLst/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93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824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86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514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86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45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796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608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929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988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257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447104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8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2122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0874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3303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922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6590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Arsenio\Documents\PROJECTO\Estudos\Html-Css\Material\Projecto%20de%20TLP\Conteudo\index.html" TargetMode="Externa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0AD098-8311-84C2-6A7E-9F243FD0E6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41199" y="1228086"/>
            <a:ext cx="8791575" cy="2387600"/>
          </a:xfrm>
        </p:spPr>
        <p:txBody>
          <a:bodyPr/>
          <a:lstStyle/>
          <a:p>
            <a:r>
              <a:rPr lang="pt-PT" dirty="0"/>
              <a:t>Robotica futurista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E7B6ED52-5923-6F1F-1A2A-7A2E9261B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0212" y="3615686"/>
            <a:ext cx="8791575" cy="1655762"/>
          </a:xfrm>
        </p:spPr>
        <p:txBody>
          <a:bodyPr/>
          <a:lstStyle/>
          <a:p>
            <a:pPr algn="ctr"/>
            <a:r>
              <a:rPr lang="pt-PT" b="1" dirty="0"/>
              <a:t>Tecnologia que respira. Futuro que avança.</a:t>
            </a:r>
            <a:br>
              <a:rPr lang="pt-PT" dirty="0"/>
            </a:br>
            <a:r>
              <a:rPr lang="pt-PT" b="1" dirty="0"/>
              <a:t>Inovações que inspiram. Um novo mundo se lança.</a:t>
            </a:r>
            <a:r>
              <a:rPr lang="pt-PT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A5D93E-B739-A8F2-7869-02507F5F8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555" y="564094"/>
            <a:ext cx="2533042" cy="204491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718435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xit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188B9-BA76-D148-F49B-DAE0A2EBC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8794" y="0"/>
            <a:ext cx="9905998" cy="1277235"/>
          </a:xfrm>
        </p:spPr>
        <p:txBody>
          <a:bodyPr/>
          <a:lstStyle/>
          <a:p>
            <a:r>
              <a:rPr lang="pt-PT" dirty="0"/>
              <a:t>Integrantes do grupo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C4A72E5-806E-C9D7-DE60-B897B79D8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7354402"/>
              </p:ext>
            </p:extLst>
          </p:nvPr>
        </p:nvGraphicFramePr>
        <p:xfrm>
          <a:off x="1458794" y="101991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6872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6" presetClass="emph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Scale>
                                      <p:cBhvr>
                                        <p:cTn id="10" dur="2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80000" y="100000"/>
                                    </p:animScale>
                                    <p:anim by="(#ppt_w*0.10)" calcmode="lin" valueType="num">
                                      <p:cBhvr>
                                        <p:cTn id="11" dur="2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by="(-#ppt_w*0.10)" calcmode="lin" valueType="num">
                                      <p:cBhvr>
                                        <p:cTn id="12" dur="2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  <p:animRot by="-480000">
                                      <p:cBhvr>
                                        <p:cTn id="13" dur="25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21" fill="hold" grpId="2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barn(inVertical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Graphic spid="3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98E-6CCF-61B8-3864-2AF68B84E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773" y="222733"/>
            <a:ext cx="9905998" cy="1478570"/>
          </a:xfrm>
        </p:spPr>
        <p:txBody>
          <a:bodyPr/>
          <a:lstStyle/>
          <a:p>
            <a:r>
              <a:rPr lang="pt-PT" dirty="0"/>
              <a:t>introdução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3DD7E-CD9B-C6E1-0690-7D2EFA78F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049" y="1701303"/>
            <a:ext cx="10663901" cy="5563619"/>
          </a:xfrm>
        </p:spPr>
        <p:txBody>
          <a:bodyPr>
            <a:normAutofit/>
          </a:bodyPr>
          <a:lstStyle/>
          <a:p>
            <a:r>
              <a:rPr lang="pt-PT" sz="2000" dirty="0"/>
              <a:t>Robótica Futurista  é um site moderno, intuitivo e interativo, desenvolvido em HTML, CSS e JavaScript,  hospedado no GitHub. Com design elegante e boa organização, oferece navegação clara e acessível, superando desafios de responsividade e integração visual, apesar de depender de internet e apresentar limitações em navegadores antigos.</a:t>
            </a:r>
          </a:p>
        </p:txBody>
      </p:sp>
    </p:spTree>
    <p:extLst>
      <p:ext uri="{BB962C8B-B14F-4D97-AF65-F5344CB8AC3E}">
        <p14:creationId xmlns:p14="http://schemas.microsoft.com/office/powerpoint/2010/main" val="2994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 override="childStyle">
                                        <p:cTn id="1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normal"/>
                                          </p:val>
                                        </p:tav>
                                        <p:tav tm="50000">
                                          <p:val>
                                            <p:strVal val="bold"/>
                                          </p:val>
                                        </p:tav>
                                        <p:tav tm="60000">
                                          <p:val>
                                            <p:strVal val="normal"/>
                                          </p:val>
                                        </p:tav>
                                        <p:tav tm="100000">
                                          <p:val>
                                            <p:strVal val="normal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xit" presetSubtype="1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2" grpId="3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F967-F245-2D69-A199-D6A2028D7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Problemas encontrados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CCCAE-BD8E-9D01-15E3-4B4640AAE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PT" dirty="0"/>
              <a:t>Durante o desenvolvimento do site, enfrentámos desafios técnicos como o atraso de 3 segundos para o TechBot aparecer, a animação Scroll Reveal na galeria e a criação do carrossel 3D. Também usamos Local Storage na página de serviços por não trabalharmos com bancos de dados. Ajustar responsividade, desempenho e efeitos visuais exigiu testes e correções, mas no final encontramos soluções criativas que deixaram o site moderno, funcional e interativo.</a:t>
            </a:r>
          </a:p>
        </p:txBody>
      </p:sp>
    </p:spTree>
    <p:extLst>
      <p:ext uri="{BB962C8B-B14F-4D97-AF65-F5344CB8AC3E}">
        <p14:creationId xmlns:p14="http://schemas.microsoft.com/office/powerpoint/2010/main" val="2115935909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mph" presetSubtype="0" fill="hold" grpId="3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discrete" valueType="str">
                                      <p:cBhvr override="childStyle">
                                        <p:cTn id="13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normal"/>
                                          </p:val>
                                        </p:tav>
                                        <p:tav tm="50000">
                                          <p:val>
                                            <p:strVal val="bold"/>
                                          </p:val>
                                        </p:tav>
                                        <p:tav tm="60000">
                                          <p:val>
                                            <p:strVal val="normal"/>
                                          </p:val>
                                        </p:tav>
                                        <p:tav tm="100000">
                                          <p:val>
                                            <p:strVal val="normal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0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8" fill="hold" grpId="4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3"/>
      <p:bldP spid="2" grpId="4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70DBD-05E6-4E38-0DCE-3011F626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b="1" dirty="0"/>
              <a:t>justificativa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A888D-711C-E533-598D-EB0D650A2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87857"/>
            <a:ext cx="10131639" cy="4640239"/>
          </a:xfrm>
        </p:spPr>
        <p:txBody>
          <a:bodyPr>
            <a:normAutofit/>
          </a:bodyPr>
          <a:lstStyle/>
          <a:p>
            <a:r>
              <a:rPr lang="pt-PT" sz="3200" dirty="0"/>
              <a:t>O site foi criado para ser moderno, acessível e interativo, com design funcional e recursos como TechBot, carrossel 3D e uso de Local Storage. Hospedado no GitHub, permite fácil acesso e controle de versões, e o projeto está preparado para evoluir com integração a bancos de dados e novas funcionalidades, refletindo o trabalho da equipe e tecnologias atuais.</a:t>
            </a:r>
          </a:p>
        </p:txBody>
      </p:sp>
    </p:spTree>
    <p:extLst>
      <p:ext uri="{BB962C8B-B14F-4D97-AF65-F5344CB8AC3E}">
        <p14:creationId xmlns:p14="http://schemas.microsoft.com/office/powerpoint/2010/main" val="21438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024A9-C29C-AEBA-D2C4-AE84FEB73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9377"/>
            <a:ext cx="9905998" cy="1478570"/>
          </a:xfrm>
        </p:spPr>
        <p:txBody>
          <a:bodyPr>
            <a:normAutofit/>
          </a:bodyPr>
          <a:lstStyle/>
          <a:p>
            <a:r>
              <a:rPr lang="pt-PT" dirty="0"/>
              <a:t>objectivos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2F2CD-1EBE-CFD9-8E81-5DDA9C93C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49659"/>
            <a:ext cx="9905999" cy="5754029"/>
          </a:xfrm>
        </p:spPr>
        <p:txBody>
          <a:bodyPr>
            <a:normAutofit fontScale="55000" lnSpcReduction="20000"/>
          </a:bodyPr>
          <a:lstStyle/>
          <a:p>
            <a:r>
              <a:rPr lang="pt-PT" sz="3200" b="1" dirty="0"/>
              <a:t>Objetivo Geral</a:t>
            </a:r>
          </a:p>
          <a:p>
            <a:r>
              <a:rPr lang="pt-PT" sz="3200" dirty="0"/>
              <a:t>Divulgar conteúdo educativo sobre robótica de forma interativa e futurista, proporcionando uma experiência imersiva que torne o aprendizado visual, dinâmico e acessível, despertando o interesse do público por tecnologia.</a:t>
            </a:r>
          </a:p>
          <a:p>
            <a:br>
              <a:rPr lang="pt-PT" sz="3200" dirty="0"/>
            </a:br>
            <a:endParaRPr lang="pt-PT" sz="3200" dirty="0"/>
          </a:p>
          <a:p>
            <a:r>
              <a:rPr lang="pt-PT" sz="3200" b="1" dirty="0"/>
              <a:t>Objetivos Específicos</a:t>
            </a:r>
          </a:p>
          <a:p>
            <a:r>
              <a:rPr lang="pt-PT" sz="3200" b="1" dirty="0"/>
              <a:t>Explicar os fundamentos da robótica e da inteligência artificial</a:t>
            </a:r>
            <a:r>
              <a:rPr lang="pt-PT" sz="3200" dirty="0"/>
              <a:t>, apresentando conceitos como sensores, atuadores e algoritmos de maneira simples e compreensível para todos os visitantes.</a:t>
            </a:r>
          </a:p>
          <a:p>
            <a:r>
              <a:rPr lang="pt-PT" sz="3200" b="1" dirty="0"/>
              <a:t>Demonstrar aplicações atuais e futuras da robótica</a:t>
            </a:r>
            <a:r>
              <a:rPr lang="pt-PT" sz="3200" dirty="0"/>
              <a:t>, mostrando como ela é utilizada na medicina, indústria, segurança, agricultura e em inovações tecnológicas.</a:t>
            </a:r>
          </a:p>
          <a:p>
            <a:r>
              <a:rPr lang="pt-PT" sz="3200" b="1" dirty="0"/>
              <a:t>Engajar o público com animações e interatividade</a:t>
            </a:r>
            <a:r>
              <a:rPr lang="pt-PT" sz="3200" dirty="0"/>
              <a:t>, utilizando recursos como o TechBot e carrosséis informativos para criar uma experiência mais dinâmica.</a:t>
            </a:r>
          </a:p>
          <a:p>
            <a:r>
              <a:rPr lang="pt-PT" sz="3200" b="1" dirty="0"/>
              <a:t>Incentivar a curiosidade e o interesse pela tecnologia</a:t>
            </a:r>
            <a:r>
              <a:rPr lang="pt-PT" sz="3200" dirty="0"/>
              <a:t>, motivando os visitantes a explorar, aprender mais e desenvolver gosto pela ciência e inovação</a:t>
            </a:r>
          </a:p>
          <a:p>
            <a:br>
              <a:rPr lang="pt-PT" dirty="0"/>
            </a:br>
            <a:endParaRPr lang="pt-PT" dirty="0"/>
          </a:p>
          <a:p>
            <a:pPr lvl="0"/>
            <a:endParaRPr lang="pt-PT" i="1" dirty="0"/>
          </a:p>
        </p:txBody>
      </p:sp>
    </p:spTree>
    <p:extLst>
      <p:ext uri="{BB962C8B-B14F-4D97-AF65-F5344CB8AC3E}">
        <p14:creationId xmlns:p14="http://schemas.microsoft.com/office/powerpoint/2010/main" val="497717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2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52157-62B9-4C5F-107E-766DC3A4D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Estilo do 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B6EE6-0855-1A83-85CB-B0DF84DBF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just"/>
            <a:r>
              <a:rPr lang="pt-PT" dirty="0"/>
              <a:t>O site apresenta um </a:t>
            </a:r>
            <a:r>
              <a:rPr lang="pt-PT" b="1" dirty="0"/>
              <a:t>estilo futurista e tecnológico</a:t>
            </a:r>
            <a:r>
              <a:rPr lang="pt-PT" dirty="0"/>
              <a:t>, criado para transmitir modernidade e imersão no tema da robótica. A interface combina:</a:t>
            </a:r>
          </a:p>
          <a:p>
            <a:pPr algn="just"/>
            <a:r>
              <a:rPr lang="pt-PT" b="1" dirty="0"/>
              <a:t>Cores néon e tons metálicos</a:t>
            </a:r>
            <a:r>
              <a:rPr lang="pt-PT" dirty="0"/>
              <a:t>, que remetem ao ambiente digital avançado.</a:t>
            </a:r>
          </a:p>
          <a:p>
            <a:pPr algn="just"/>
            <a:r>
              <a:rPr lang="pt-PT" b="1" dirty="0"/>
              <a:t>Formas geométricas e animações suaves</a:t>
            </a:r>
            <a:r>
              <a:rPr lang="pt-PT" dirty="0"/>
              <a:t>, garantindo navegação dinâmica sem cansar o usuário.</a:t>
            </a:r>
          </a:p>
          <a:p>
            <a:pPr algn="just"/>
            <a:r>
              <a:rPr lang="pt-PT" b="1" dirty="0"/>
              <a:t>Tipografia moderna</a:t>
            </a:r>
            <a:r>
              <a:rPr lang="pt-PT" dirty="0"/>
              <a:t>, que reforça a estética “tech” e mantém a leitura limpa e confortável.</a:t>
            </a:r>
          </a:p>
          <a:p>
            <a:pPr algn="just"/>
            <a:r>
              <a:rPr lang="pt-PT" dirty="0"/>
              <a:t>Esse conjunto de elementos cria um visual coerente, atraente e motivador, especialmente para estudantes e entusiastas de tecnologia.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5070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BD6AE-39DD-7F34-7323-E392D7CE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AEF2-68C6-6AF9-2556-09903F3D2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805" y="-228600"/>
            <a:ext cx="9905998" cy="1478570"/>
          </a:xfrm>
        </p:spPr>
        <p:txBody>
          <a:bodyPr/>
          <a:lstStyle/>
          <a:p>
            <a:r>
              <a:rPr lang="pt-PT" dirty="0"/>
              <a:t>Funcionalidade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7FF61-93A1-DF88-0DC3-70C18438F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196" y="798404"/>
            <a:ext cx="7691299" cy="5145196"/>
          </a:xfrm>
        </p:spPr>
        <p:txBody>
          <a:bodyPr numCol="1">
            <a:noAutofit/>
          </a:bodyPr>
          <a:lstStyle/>
          <a:p>
            <a:pPr algn="just"/>
            <a:r>
              <a:rPr lang="pt-PT" sz="1800" b="1" dirty="0"/>
              <a:t>Carrossel página inicial </a:t>
            </a:r>
            <a:r>
              <a:rPr lang="pt-PT" sz="1400" b="1" dirty="0"/>
              <a:t>→</a:t>
            </a:r>
            <a:r>
              <a:rPr lang="pt-PT" sz="1400" dirty="0"/>
              <a:t> Imagens giram infinitamente no lado esquerdo; ao passar o mouse, a rotação para e mostra detalhes do card. Efeito visual chamativo que destaca conteúdos importantes.</a:t>
            </a:r>
          </a:p>
          <a:p>
            <a:pPr algn="just"/>
            <a:r>
              <a:rPr lang="pt-PT" sz="1800" b="1" dirty="0"/>
              <a:t>Carrossel página contactos </a:t>
            </a:r>
            <a:r>
              <a:rPr lang="pt-PT" sz="1400" b="1" dirty="0"/>
              <a:t>→</a:t>
            </a:r>
            <a:r>
              <a:rPr lang="pt-PT" sz="1400" dirty="0"/>
              <a:t> Transições suaves em 3D, facilitando a visualização de múltiplas imagens de forma interativa.</a:t>
            </a:r>
          </a:p>
          <a:p>
            <a:pPr algn="just"/>
            <a:r>
              <a:rPr lang="pt-PT" sz="1800" b="1" dirty="0"/>
              <a:t>TechBot interativo </a:t>
            </a:r>
            <a:r>
              <a:rPr lang="pt-PT" sz="1400" b="1" dirty="0"/>
              <a:t>→</a:t>
            </a:r>
            <a:r>
              <a:rPr lang="pt-PT" sz="1400" dirty="0"/>
              <a:t> Segue o cursor, fala sobre a página atual e possui três botões de interação, tornando a navegação divertida e intuitiva.</a:t>
            </a:r>
          </a:p>
          <a:p>
            <a:pPr algn="just"/>
            <a:r>
              <a:rPr lang="pt-PT" sz="1800" b="1" dirty="0"/>
              <a:t>Cards animados </a:t>
            </a:r>
            <a:r>
              <a:rPr lang="pt-PT" sz="1400" b="1" dirty="0"/>
              <a:t>→</a:t>
            </a:r>
            <a:r>
              <a:rPr lang="pt-PT" sz="1400" dirty="0"/>
              <a:t> Informações sobre áreas da robótica aparecem com animações; ao passar o mouse, mais detalhes são exibidos, ajudando o usuário a entender melhor os conteúdos.</a:t>
            </a:r>
          </a:p>
          <a:p>
            <a:pPr algn="just"/>
            <a:r>
              <a:rPr lang="pt-PT" sz="1800" b="1" dirty="0"/>
              <a:t>Conta de usuário </a:t>
            </a:r>
            <a:r>
              <a:rPr lang="pt-PT" sz="1400" b="1" dirty="0"/>
              <a:t>→</a:t>
            </a:r>
            <a:r>
              <a:rPr lang="pt-PT" sz="1400" dirty="0"/>
              <a:t> Registo simples com foto de perfil, permitindo personalização e fácil acesso às funcionalidades do site.</a:t>
            </a:r>
          </a:p>
          <a:p>
            <a:pPr algn="just"/>
            <a:r>
              <a:rPr lang="pt-PT" sz="1800" b="1" dirty="0"/>
              <a:t>Quiz educativo </a:t>
            </a:r>
            <a:r>
              <a:rPr lang="pt-PT" sz="1400" b="1" dirty="0"/>
              <a:t>→</a:t>
            </a:r>
            <a:r>
              <a:rPr lang="pt-PT" sz="1400" dirty="0"/>
              <a:t> Testa conhecimentos do usuário de forma interativa, incentivando aprendizado e revisão do conteúdo.</a:t>
            </a:r>
          </a:p>
          <a:p>
            <a:pPr algn="just"/>
            <a:r>
              <a:rPr lang="pt-PT" sz="1800" b="1" dirty="0"/>
              <a:t>Responsividade</a:t>
            </a:r>
            <a:r>
              <a:rPr lang="pt-PT" sz="1400" b="1" dirty="0"/>
              <a:t> →</a:t>
            </a:r>
            <a:r>
              <a:rPr lang="pt-PT" sz="1400" dirty="0"/>
              <a:t> Site funciona bem em qualquer dispositivo, garantindo uma boa experiência em PCs, tablets e celulares.</a:t>
            </a:r>
          </a:p>
          <a:p>
            <a:endParaRPr lang="pt-PT" sz="1400" dirty="0"/>
          </a:p>
        </p:txBody>
      </p:sp>
    </p:spTree>
    <p:extLst>
      <p:ext uri="{BB962C8B-B14F-4D97-AF65-F5344CB8AC3E}">
        <p14:creationId xmlns:p14="http://schemas.microsoft.com/office/powerpoint/2010/main" val="168668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A1C7C-4F57-8BCF-0A61-C4AE1AAF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Importância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30752-77D1-BD47-4334-EB141839C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090" y="2097088"/>
            <a:ext cx="9905999" cy="354171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pt-PT" dirty="0"/>
            </a:br>
            <a:r>
              <a:rPr lang="pt-PT" dirty="0"/>
              <a:t>O site é um recurso essencial porque centraliza informações de forma clara e acessível, facilitando o aprendizado, a consulta e a tomada de decisões pelos utilizadores. Ao combinar design intuitivo e interatividade, promove maior engajamento do público e torna a experiência de navegação mais eficiente. Além disso, a utilização de tecnologias abertas permite futuras atualizações e ampliações, garantindo a adaptabilidade e a sustentabilidade do projeto em diferentes contextos.</a:t>
            </a:r>
          </a:p>
        </p:txBody>
      </p:sp>
    </p:spTree>
    <p:extLst>
      <p:ext uri="{BB962C8B-B14F-4D97-AF65-F5344CB8AC3E}">
        <p14:creationId xmlns:p14="http://schemas.microsoft.com/office/powerpoint/2010/main" val="665802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4E5C-D955-1A0E-3F2A-F28C23DC8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TIPOLOGIA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2E5D3-9E43-5294-2FB4-E0362DACB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PT" dirty="0"/>
              <a:t>A tipologia do site é informativa e interativa, unindo conteúdos claros com recursos que incentivam a participação ativa do utilizador. Em vez de apenas apresentar informação, o site oferece elementos visuais e funcionalidades dinâmicas que tornam a navegação personalizada e envolvente. Assim, o utilizador aprende de forma mais eficaz e participa ativamente, transformando o site numa ferramenta prática de consulta e interação.</a:t>
            </a:r>
          </a:p>
        </p:txBody>
      </p:sp>
    </p:spTree>
    <p:extLst>
      <p:ext uri="{BB962C8B-B14F-4D97-AF65-F5344CB8AC3E}">
        <p14:creationId xmlns:p14="http://schemas.microsoft.com/office/powerpoint/2010/main" val="12206335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0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7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DA-ABB1-3FB7-3648-6811E083C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sz="3200" dirty="0"/>
              <a:t>Vantagens do 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11440-7124-63A8-0231-2FEECB94F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938130"/>
            <a:ext cx="8231188" cy="3965713"/>
          </a:xfrm>
        </p:spPr>
        <p:txBody>
          <a:bodyPr>
            <a:normAutofit fontScale="92500"/>
          </a:bodyPr>
          <a:lstStyle/>
          <a:p>
            <a:r>
              <a:rPr lang="pt-PT" sz="1400" b="1" dirty="0"/>
              <a:t>Conteúdo educativo</a:t>
            </a:r>
            <a:r>
              <a:rPr lang="pt-PT" sz="1400" dirty="0"/>
              <a:t> – Explica conceitos de robótica e IA de forma clara e organizada.</a:t>
            </a:r>
          </a:p>
          <a:p>
            <a:r>
              <a:rPr lang="pt-PT" sz="1400" b="1" dirty="0"/>
              <a:t>Interatividade</a:t>
            </a:r>
            <a:r>
              <a:rPr lang="pt-PT" sz="1400" dirty="0"/>
              <a:t> – Funcionalidades como quizzes, workshops e menus dinâmicos envolvem o usuário.</a:t>
            </a:r>
          </a:p>
          <a:p>
            <a:r>
              <a:rPr lang="pt-PT" sz="1400" b="1" dirty="0"/>
              <a:t>Design moderno e futurista</a:t>
            </a:r>
            <a:r>
              <a:rPr lang="pt-PT" sz="1400" dirty="0"/>
              <a:t> – Visual atraente com imagens e elementos tecnológicos que prendem a atenção.</a:t>
            </a:r>
          </a:p>
          <a:p>
            <a:r>
              <a:rPr lang="pt-PT" sz="1400" b="1" dirty="0"/>
              <a:t>Aprendizado acessível</a:t>
            </a:r>
            <a:r>
              <a:rPr lang="pt-PT" sz="1400" dirty="0"/>
              <a:t> – Seções bem estruturadas facilitam a compreensão dos temas.</a:t>
            </a:r>
          </a:p>
          <a:p>
            <a:r>
              <a:rPr lang="pt-PT" sz="1400" b="1" dirty="0"/>
              <a:t>Navegação intuitiva</a:t>
            </a:r>
            <a:r>
              <a:rPr lang="pt-PT" sz="1400" dirty="0"/>
              <a:t> – Menus claros e organização lógica tornam a experiência fácil e agradável.</a:t>
            </a:r>
          </a:p>
          <a:p>
            <a:r>
              <a:rPr lang="pt-PT" sz="1400" b="1" dirty="0"/>
              <a:t>Compatibilidade com dispositivos</a:t>
            </a:r>
            <a:r>
              <a:rPr lang="pt-PT" sz="1400" dirty="0"/>
              <a:t> – Funciona em computadores, tablets e celulares sem perda de qualidade.</a:t>
            </a:r>
          </a:p>
          <a:p>
            <a:r>
              <a:rPr lang="pt-PT" sz="1400" b="1" dirty="0"/>
              <a:t>Acesso público</a:t>
            </a:r>
            <a:r>
              <a:rPr lang="pt-PT" sz="1400" dirty="0"/>
              <a:t> – Hospedagem web permite que qualquer pessoa acesse o conteúdo rapidamente.</a:t>
            </a:r>
          </a:p>
          <a:p>
            <a:r>
              <a:rPr lang="pt-PT" sz="1400" b="1" dirty="0"/>
              <a:t>Estímulo à curiosidade</a:t>
            </a:r>
            <a:r>
              <a:rPr lang="pt-PT" sz="1400" dirty="0"/>
              <a:t> – Recursos interativos incentivam a exploração e o interesse pela tecnologia.</a:t>
            </a:r>
          </a:p>
          <a:p>
            <a:r>
              <a:rPr lang="pt-PT" sz="1400" b="1" dirty="0"/>
              <a:t>Integração visual e textual</a:t>
            </a:r>
            <a:r>
              <a:rPr lang="pt-PT" sz="1400" dirty="0"/>
              <a:t> – Combina imagens, animações e textos, reforçando o aprendizado.</a:t>
            </a:r>
          </a:p>
          <a:p>
            <a:r>
              <a:rPr lang="pt-PT" sz="1400" b="1" dirty="0"/>
              <a:t>Potencial de evolução</a:t>
            </a:r>
            <a:r>
              <a:rPr lang="pt-PT" sz="1400" dirty="0"/>
              <a:t> – Estrutura permite futuras melhorias, como integração de banco de dados e novas funcionalidades.</a:t>
            </a:r>
          </a:p>
        </p:txBody>
      </p:sp>
    </p:spTree>
    <p:extLst>
      <p:ext uri="{BB962C8B-B14F-4D97-AF65-F5344CB8AC3E}">
        <p14:creationId xmlns:p14="http://schemas.microsoft.com/office/powerpoint/2010/main" val="3932591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3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7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2A66-B912-0250-DDAB-9C16A16D0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50162"/>
            <a:ext cx="9905998" cy="1269916"/>
          </a:xfrm>
        </p:spPr>
        <p:txBody>
          <a:bodyPr/>
          <a:lstStyle/>
          <a:p>
            <a:r>
              <a:rPr lang="pt-PT" dirty="0"/>
              <a:t>Desvantagens do site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B5EC6-1BBA-D93E-BBE8-F1F42C4CD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719470"/>
            <a:ext cx="7863439" cy="4701207"/>
          </a:xfrm>
        </p:spPr>
        <p:txBody>
          <a:bodyPr>
            <a:normAutofit fontScale="77500" lnSpcReduction="20000"/>
          </a:bodyPr>
          <a:lstStyle/>
          <a:p>
            <a:r>
              <a:rPr lang="pt-PT" b="1" dirty="0"/>
              <a:t>Sem backend seguro</a:t>
            </a:r>
            <a:r>
              <a:rPr lang="pt-PT" dirty="0"/>
              <a:t> – Dados dos usuários ficam apenas no Local Storage, limitando funcionalidades e segurança.</a:t>
            </a:r>
          </a:p>
          <a:p>
            <a:r>
              <a:rPr lang="pt-PT" b="1" dirty="0"/>
              <a:t>Workshops indisponíveis</a:t>
            </a:r>
            <a:r>
              <a:rPr lang="pt-PT" dirty="0"/>
              <a:t> – A ausência desta funcionalidade impede atividades práticas e reduz o potencial educativo.</a:t>
            </a:r>
          </a:p>
          <a:p>
            <a:r>
              <a:rPr lang="pt-PT" b="1" dirty="0"/>
              <a:t>Hospedagem gratuita</a:t>
            </a:r>
            <a:r>
              <a:rPr lang="pt-PT" dirty="0"/>
              <a:t> – GitHub Pages limita armazenamento, tempo de carregamento e recursos do servidor.</a:t>
            </a:r>
          </a:p>
          <a:p>
            <a:r>
              <a:rPr lang="pt-PT" b="1" dirty="0"/>
              <a:t>Performance sensível</a:t>
            </a:r>
            <a:r>
              <a:rPr lang="pt-PT" dirty="0"/>
              <a:t> – Imagens pesadas e animações complexas podem tornar o site mais lento em dispositivos com menor capacidade.</a:t>
            </a:r>
          </a:p>
          <a:p>
            <a:r>
              <a:rPr lang="pt-PT" b="1" dirty="0"/>
              <a:t>Acessibilidade limitada</a:t>
            </a:r>
            <a:r>
              <a:rPr lang="pt-PT" dirty="0"/>
              <a:t> – Usuários com necessidades especiais podem ter dificuldades se normas como WCAG não forem totalmente implementadas.</a:t>
            </a:r>
          </a:p>
          <a:p>
            <a:r>
              <a:rPr lang="pt-PT" b="1" dirty="0"/>
              <a:t>Funcionalidades limitadas</a:t>
            </a:r>
            <a:r>
              <a:rPr lang="pt-PT" dirty="0"/>
              <a:t> – Sem backend, não é possível criar contas completas, guardar histórico ou personalizar totalmente a experiência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5664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25D1-8427-B192-C94F-63E5D8F9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Ánalise swot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36A2EA-8830-07CA-1EB7-7C1D57537E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6253638"/>
              </p:ext>
            </p:extLst>
          </p:nvPr>
        </p:nvGraphicFramePr>
        <p:xfrm>
          <a:off x="1141413" y="2514600"/>
          <a:ext cx="9905998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952999">
                  <a:extLst>
                    <a:ext uri="{9D8B030D-6E8A-4147-A177-3AD203B41FA5}">
                      <a16:colId xmlns:a16="http://schemas.microsoft.com/office/drawing/2014/main" val="568710914"/>
                    </a:ext>
                  </a:extLst>
                </a:gridCol>
                <a:gridCol w="4952999">
                  <a:extLst>
                    <a:ext uri="{9D8B030D-6E8A-4147-A177-3AD203B41FA5}">
                      <a16:colId xmlns:a16="http://schemas.microsoft.com/office/drawing/2014/main" val="929101100"/>
                    </a:ext>
                  </a:extLst>
                </a:gridCol>
              </a:tblGrid>
              <a:tr h="3627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2400" b="1" dirty="0"/>
                        <a:t>Forças</a:t>
                      </a:r>
                      <a:endParaRPr lang="pt-PT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2400" b="1" dirty="0"/>
                        <a:t>Fraquezas</a:t>
                      </a:r>
                      <a:endParaRPr lang="pt-PT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395649"/>
                  </a:ext>
                </a:extLst>
              </a:tr>
              <a:tr h="362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Design moderno e futurista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Sem backend seguro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777824"/>
                  </a:ext>
                </a:extLst>
              </a:tr>
              <a:tr h="362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Conteúdo educativo e organizado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Workshops e interações limitadas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0878309"/>
                  </a:ext>
                </a:extLst>
              </a:tr>
              <a:tr h="362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Interatividade (TechBot, quizzes, carrosséis)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Dependência de Local Storage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4044600"/>
                  </a:ext>
                </a:extLst>
              </a:tr>
              <a:tr h="362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Acesso fácil e responsivo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Hospedagem gratuita com limitações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665304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E46C43-F390-B854-90EB-3F096A7B5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855723"/>
              </p:ext>
            </p:extLst>
          </p:nvPr>
        </p:nvGraphicFramePr>
        <p:xfrm>
          <a:off x="1141411" y="4343400"/>
          <a:ext cx="9906000" cy="1493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953000">
                  <a:extLst>
                    <a:ext uri="{9D8B030D-6E8A-4147-A177-3AD203B41FA5}">
                      <a16:colId xmlns:a16="http://schemas.microsoft.com/office/drawing/2014/main" val="2047659417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38242525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2000" b="1" dirty="0"/>
                        <a:t>Oportunidades</a:t>
                      </a:r>
                      <a:endParaRPr lang="pt-PT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2000" b="1" dirty="0"/>
                        <a:t>Ameaças</a:t>
                      </a:r>
                      <a:endParaRPr lang="pt-PT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3528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Integrar backend e novas funcionalidades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Performance limitada em dispositivos fracos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56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Expandir conteúdo educativo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Concorrência com outras plataformas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3468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/>
                        <a:t>Melhorar acessibilidade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dirty="0"/>
                        <a:t>Risco de perda de dados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628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8935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DE968-77C1-BB18-48F7-42163DD7B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conclusão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BE1A1-9B59-8E46-126C-2D649DE07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O site é visualmente atraente, interativo e educativo, com recursos como carrosséis, cards animados, TechBot e quizzes, que tornam a navegação envolvente e o aprendizado mais fácil. Apesar de limitações como ausência de backend, uso de Local Storage, hospedagem gratuita e acessibilidade parcial, ele é eficaz e tem grande potencial de crescimento.</a:t>
            </a:r>
          </a:p>
        </p:txBody>
      </p:sp>
    </p:spTree>
    <p:extLst>
      <p:ext uri="{BB962C8B-B14F-4D97-AF65-F5344CB8AC3E}">
        <p14:creationId xmlns:p14="http://schemas.microsoft.com/office/powerpoint/2010/main" val="39544847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BF971C-207C-21F9-6BE1-A55B1546D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473" y="-134170"/>
            <a:ext cx="12282945" cy="71263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Flowchart: Terminator 1">
            <a:hlinkClick r:id="rId3" action="ppaction://program" highlightClick="1"/>
            <a:extLst>
              <a:ext uri="{FF2B5EF4-FFF2-40B4-BE49-F238E27FC236}">
                <a16:creationId xmlns:a16="http://schemas.microsoft.com/office/drawing/2014/main" id="{A8CED56A-9C4C-2F14-9A3A-011FE16A45E2}"/>
              </a:ext>
            </a:extLst>
          </p:cNvPr>
          <p:cNvSpPr/>
          <p:nvPr/>
        </p:nvSpPr>
        <p:spPr>
          <a:xfrm>
            <a:off x="4752304" y="6407239"/>
            <a:ext cx="1738648" cy="450761"/>
          </a:xfrm>
          <a:prstGeom prst="flowChartTerminator">
            <a:avLst/>
          </a:prstGeom>
          <a:ln>
            <a:solidFill>
              <a:schemeClr val="bg2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  <a:scene3d>
            <a:camera prst="perspectiveFront"/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ENTRAR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2BAA19-B352-D54E-74A0-958FA3F0F357}"/>
              </a:ext>
            </a:extLst>
          </p:cNvPr>
          <p:cNvSpPr txBox="1"/>
          <p:nvPr/>
        </p:nvSpPr>
        <p:spPr>
          <a:xfrm>
            <a:off x="5731099" y="3136005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770522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930</TotalTime>
  <Words>1184</Words>
  <Application>Microsoft Office PowerPoint</Application>
  <PresentationFormat>Widescreen</PresentationFormat>
  <Paragraphs>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Tw Cen MT</vt:lpstr>
      <vt:lpstr>Circuit</vt:lpstr>
      <vt:lpstr>Robotica futurista</vt:lpstr>
      <vt:lpstr>Integrantes do grupo</vt:lpstr>
      <vt:lpstr>introdução</vt:lpstr>
      <vt:lpstr>Problemas encontrados</vt:lpstr>
      <vt:lpstr>justificativa</vt:lpstr>
      <vt:lpstr>objectivos</vt:lpstr>
      <vt:lpstr>Estilo do site</vt:lpstr>
      <vt:lpstr>Funcionalidade</vt:lpstr>
      <vt:lpstr>Importância</vt:lpstr>
      <vt:lpstr>TIPOLOGIA</vt:lpstr>
      <vt:lpstr>Vantagens do site</vt:lpstr>
      <vt:lpstr>Desvantagens do site </vt:lpstr>
      <vt:lpstr>Ánalise swot</vt:lpstr>
      <vt:lpstr>conclusão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Arsenio Sebastião</dc:creator>
  <cp:lastModifiedBy>Arsenio Sebastião</cp:lastModifiedBy>
  <cp:revision>21</cp:revision>
  <dcterms:created xsi:type="dcterms:W3CDTF">2025-11-24T13:45:51Z</dcterms:created>
  <dcterms:modified xsi:type="dcterms:W3CDTF">2025-12-03T07:44:55Z</dcterms:modified>
</cp:coreProperties>
</file>